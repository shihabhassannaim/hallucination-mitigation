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37160" cy="13716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972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B7860B"/>
                </a:solidFill>
                <a:latin typeface="Calibri"/>
              </a:rPr>
              <a:t>THESIS PRE-DEFENSE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Hallucination Detection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1188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14B8A6"/>
                </a:solidFill>
                <a:latin typeface="Calibri"/>
              </a:rPr>
              <a:t>A 13-Step Verification Architecture for Retrieval-Augmented Generation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251960"/>
            <a:ext cx="3200400" cy="27432"/>
          </a:xfrm>
          <a:prstGeom prst="rect">
            <a:avLst/>
          </a:prstGeom>
          <a:solidFill>
            <a:srgbClr val="B7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3891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B7860B"/>
                </a:solidFill>
                <a:latin typeface="Calibri"/>
              </a:rPr>
              <a:t>Author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70916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Shihab Hassan Naim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1663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4B8A6"/>
                </a:solidFill>
                <a:latin typeface="Calibri"/>
              </a:rPr>
              <a:t>github.com/ShihabHassanNaim/Hallucination-Mitigation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30936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5E7EB"/>
                </a:solidFill>
                <a:latin typeface="Calibri"/>
              </a:rPr>
              <a:t>Faculty Supervisor: [Name]   -   Department: [Name]   -   [Date]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4B8A6"/>
                </a:solidFill>
                <a:latin typeface="Calibri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0E2A47"/>
                </a:solidFill>
                <a:latin typeface="Calibri"/>
              </a:rPr>
              <a:t>Outline of the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Background, approach, implementation, evaluation, and comparison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00200"/>
            <a:ext cx="457200" cy="365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92024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920240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E2A47"/>
                </a:solidFill>
                <a:latin typeface="Calibri"/>
              </a:rPr>
              <a:t>Introduction &amp; Motivation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176272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The problem of hallucination in RAG systems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395728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39572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395728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E2A47"/>
                </a:solidFill>
                <a:latin typeface="Calibri"/>
              </a:rPr>
              <a:t>Background &amp; Related Work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2651760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Prior approaches and their limitations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871216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287121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2871216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E2A47"/>
                </a:solidFill>
                <a:latin typeface="Calibri"/>
              </a:rPr>
              <a:t>Research Objectives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127248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Specific, measurable goals of this thesis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346704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346704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3346704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E2A47"/>
                </a:solidFill>
                <a:latin typeface="Calibri"/>
              </a:rPr>
              <a:t>Proposed Architecture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3602736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The 13-step pipeline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822191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822191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3822191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E2A47"/>
                </a:solidFill>
                <a:latin typeface="Calibri"/>
              </a:rPr>
              <a:t>Implementation Details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" y="4078224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Tools, models, and technical choices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297679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429767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" y="4297679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E2A47"/>
                </a:solidFill>
                <a:latin typeface="Calibri"/>
              </a:rPr>
              <a:t>System Demonstration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" y="4553712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User interfaces and API endpoints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4773167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477316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3000" y="4773167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E2A47"/>
                </a:solidFill>
                <a:latin typeface="Calibri"/>
              </a:rPr>
              <a:t>Experimental Evaluation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3000" y="5029199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Datasets, metrics, and results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5248655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5248655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43000" y="5248655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E2A47"/>
                </a:solidFill>
                <a:latin typeface="Calibri"/>
              </a:rPr>
              <a:t>Comparison with Prior Work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" y="5504687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Quantitative comparison vs. 10 cited papers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5724143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5724143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43000" y="5724143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E2A47"/>
                </a:solidFill>
                <a:latin typeface="Calibri"/>
              </a:rPr>
              <a:t>Conclusion &amp; Future Work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43000" y="5980175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Contributions and next steps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656539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Hallucination-Mitigation  -  Thesis Pre-Defense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607040" y="656539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2 /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4B8A6"/>
                </a:solidFill>
                <a:latin typeface="Calibri"/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0E2A47"/>
                </a:solidFill>
                <a:latin typeface="Calibri"/>
              </a:rPr>
              <a:t>Why hallucination is a hard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The bottleneck for trustworthy retrieval-augmented generation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00200"/>
            <a:ext cx="457200" cy="365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920240"/>
            <a:ext cx="5669280" cy="438912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057400"/>
            <a:ext cx="5303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E2A47"/>
                </a:solidFill>
                <a:latin typeface="Calibri"/>
              </a:rPr>
              <a:t>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Calibri"/>
              </a:rPr>
              <a:t>-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468880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Calibri"/>
              </a:rPr>
              <a:t>Large language models generate fluent text that may not be grounded in the provided context.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971800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Calibri"/>
              </a:rPr>
              <a:t>-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971800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Calibri"/>
              </a:rPr>
              <a:t>A single unsupported claim can compromise downstream decisions.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474720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Calibri"/>
              </a:rPr>
              <a:t>-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474720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Calibri"/>
              </a:rPr>
              <a:t>Logprob-based confidence is poorly calibrated for modern LLMs.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977639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Calibri"/>
              </a:rPr>
              <a:t>-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977639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Calibri"/>
              </a:rPr>
              <a:t>Faithfulness and factuality are distinct, and both must be verified.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480559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Calibri"/>
              </a:rPr>
              <a:t>-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480559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Calibri"/>
              </a:rPr>
              <a:t>Detecting errors at the sentence level is too coarse; claim-level checks are needed.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983479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Calibri"/>
              </a:rPr>
              <a:t>-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983479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Calibri"/>
              </a:rPr>
              <a:t>A deployable system must decide whether to PASS, REGENERATE, or ABSTAIN.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1920240"/>
            <a:ext cx="5212080" cy="438912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9400" y="2057400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E2A47"/>
                </a:solidFill>
                <a:latin typeface="Calibri"/>
              </a:rPr>
              <a:t>Context of this work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2468880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Calibri"/>
              </a:rPr>
              <a:t>-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12280" y="246888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Calibri"/>
              </a:rPr>
              <a:t>Modern benchmarks (HaluEval, TruthfulQA) expose the gap between LLM fluency and factual reliability.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2971800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Calibri"/>
              </a:rPr>
              <a:t>-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12280" y="297180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Calibri"/>
              </a:rPr>
              <a:t>Enterprises require verifiable, citation-backed outputs.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9400" y="3474720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Calibri"/>
              </a:rPr>
              <a:t>-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12280" y="347472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Calibri"/>
              </a:rPr>
              <a:t>Prior detection systems operate on a single pre-generated response and produce a single label.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3977639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Calibri"/>
              </a:rPr>
              <a:t>-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12280" y="3977639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Calibri"/>
              </a:rPr>
              <a:t>None of the surveyed systems combine end-to-end detection, claim-level verification, and active mitigation.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29400" y="507492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E2A47"/>
                </a:solidFill>
                <a:latin typeface="Calibri"/>
              </a:rPr>
              <a:t>Reference corpora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5394960"/>
            <a:ext cx="4846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HaluEval, TruthfulQA, SHROOM, LLM-Check, QuaLLM-KG, and the related papers listed in /Paper.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56539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Hallucination-Mitigation  -  Thesis Pre-Defense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07040" y="656539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3 /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4B8A6"/>
                </a:solidFill>
                <a:latin typeface="Calibri"/>
              </a:rPr>
              <a:t>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0E2A47"/>
                </a:solidFill>
                <a:latin typeface="Calibri"/>
              </a:rPr>
              <a:t>Three families of prior approaches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Where this thesis is positioned in the literature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00200"/>
            <a:ext cx="457200" cy="365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965960"/>
            <a:ext cx="3657600" cy="32004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965960"/>
            <a:ext cx="36576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039112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Self-consistency methods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514600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Logprob, entropy, and self-consistency scoring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926080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  <a:latin typeface="Calibri"/>
              </a:rPr>
              <a:t>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92608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Calibri"/>
              </a:rPr>
              <a:t>Inexpensive and easy to deploy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246120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  <a:latin typeface="Calibri"/>
              </a:rPr>
              <a:t>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24612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Calibri"/>
              </a:rPr>
              <a:t>Independent of external evidence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657600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C0392B"/>
                </a:solidFill>
                <a:latin typeface="Calibri"/>
              </a:rPr>
              <a:t>-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65760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Calibri"/>
              </a:rPr>
              <a:t>Poorly calibrated, often confidently wrong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43400" y="1965960"/>
            <a:ext cx="3657600" cy="32004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43400" y="1965960"/>
            <a:ext cx="365760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60" y="2039112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Retrieval-augmented checks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2514600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Atomic claims checked against retrieved evidence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2926080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  <a:latin typeface="Calibri"/>
              </a:rPr>
              <a:t>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292608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Calibri"/>
              </a:rPr>
              <a:t>Strong grounding and cite-ability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3337560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C0392B"/>
                </a:solidFill>
                <a:latin typeface="Calibri"/>
              </a:rPr>
              <a:t>-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333756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Calibri"/>
              </a:rPr>
              <a:t>No unified pipeline, high latency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38160" y="1965960"/>
            <a:ext cx="3657600" cy="32004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38160" y="1965960"/>
            <a:ext cx="3657600" cy="457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75320" y="2039112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NLI and FactScore methods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20" y="2514600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Natural language inference and factuality scoring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2926080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  <a:latin typeface="Calibri"/>
              </a:rPr>
              <a:t>+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58200" y="292608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Calibri"/>
              </a:rPr>
              <a:t>Strong on SHROOM shared task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20" y="3337560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C0392B"/>
                </a:solidFill>
                <a:latin typeface="Calibri"/>
              </a:rPr>
              <a:t>-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58200" y="333756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Calibri"/>
              </a:rPr>
              <a:t>Detection only, no mitigation, no citation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5440680"/>
            <a:ext cx="11064240" cy="91440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" y="5532120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Calibri"/>
              </a:rPr>
              <a:t>Position of this thesis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852160"/>
            <a:ext cx="10607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Unify logprob confidence, retrieval-grounded evidence, and claim-level NLI - with explicit early detection, evidence-guided regeneration, and a three-way gate (PASS / REGEN / ABSTAIN).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56539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Hallucination-Mitigation  -  Thesis Pre-Defense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07040" y="656539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4 /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4B8A6"/>
                </a:solidFill>
                <a:latin typeface="Calibri"/>
              </a:rPr>
              <a:t>RESEARCH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0E2A47"/>
                </a:solidFill>
                <a:latin typeface="Calibri"/>
              </a:rPr>
              <a:t>Six specific, measurable goals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Each goal is paired with a verification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00200"/>
            <a:ext cx="457200" cy="365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920240"/>
            <a:ext cx="3657600" cy="210312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920240"/>
            <a:ext cx="640080" cy="210312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920240"/>
            <a:ext cx="640080" cy="2103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O1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05740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E2A47"/>
                </a:solidFill>
                <a:latin typeface="Calibri"/>
              </a:rPr>
              <a:t>Build a 13-step pipeline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423160"/>
            <a:ext cx="2743200" cy="1463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alibri"/>
              </a:rPr>
              <a:t>A bottom-up implementation that maps one-to-one with the architecture diagram; every step is a real Python module.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3400" y="1920240"/>
            <a:ext cx="3657600" cy="210312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920240"/>
            <a:ext cx="640080" cy="210312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43400" y="1920240"/>
            <a:ext cx="640080" cy="2103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O2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205740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E2A47"/>
                </a:solidFill>
                <a:latin typeface="Calibri"/>
              </a:rPr>
              <a:t>Use real HuggingFace models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2423160"/>
            <a:ext cx="2743200" cy="1463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alibri"/>
              </a:rPr>
              <a:t>Llama 3.1, Qwen 3, BGE-M3, BGE-Reranker, and DeBERTa-v3 NLI, with no mock or stub implementations.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0" y="1920240"/>
            <a:ext cx="3657600" cy="210312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8160" y="1920240"/>
            <a:ext cx="640080" cy="210312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60" y="1920240"/>
            <a:ext cx="640080" cy="2103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O3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15400" y="205740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E2A47"/>
                </a:solidFill>
                <a:latin typeface="Calibri"/>
              </a:rPr>
              <a:t>Implement claim-level verification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15400" y="2423160"/>
            <a:ext cx="2743200" cy="1463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alibri"/>
              </a:rPr>
              <a:t>Extract atomic claims and verify each independently with NLI, rather than scoring the entire answer as a single sentence.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206240"/>
            <a:ext cx="3657600" cy="210312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4206240"/>
            <a:ext cx="640080" cy="210312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206240"/>
            <a:ext cx="640080" cy="2103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O4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25880" y="434340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E2A47"/>
                </a:solidFill>
                <a:latin typeface="Calibri"/>
              </a:rPr>
              <a:t>Provide a three-way decision gate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4709159"/>
            <a:ext cx="2743200" cy="1463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alibri"/>
              </a:rPr>
              <a:t>PASS, REGENERATE, or ABSTAIN based on calibrated confidence (EEDC combined with temperature scaling).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43400" y="4206240"/>
            <a:ext cx="3657600" cy="210312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43400" y="4206240"/>
            <a:ext cx="640080" cy="210312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43400" y="4206240"/>
            <a:ext cx="640080" cy="2103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O5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20640" y="434340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E2A47"/>
                </a:solidFill>
                <a:latin typeface="Calibri"/>
              </a:rPr>
              <a:t>Deliver two user-facing surfaces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0640" y="4709159"/>
            <a:ext cx="2743200" cy="1463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alibri"/>
              </a:rPr>
              <a:t>A FastAPI service on port 8000 and a Flask demo on port 5000, with live metrics and a project explorer.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38160" y="4206240"/>
            <a:ext cx="3657600" cy="210312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138160" y="4206240"/>
            <a:ext cx="640080" cy="210312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38160" y="4206240"/>
            <a:ext cx="640080" cy="2103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O6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15400" y="434340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E2A47"/>
                </a:solidFill>
                <a:latin typeface="Calibri"/>
              </a:rPr>
              <a:t>Ensure reproducible evaluation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15400" y="4709159"/>
            <a:ext cx="2743200" cy="1463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alibri"/>
              </a:rPr>
              <a:t>31 unit tests, evaluation on HaluEval and TruthfulQA, and a quantitative comparison against ten cited papers.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56539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Hallucination-Mitigation  -  Thesis Pre-Defense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7040" y="656539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5 /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4B8A6"/>
                </a:solidFill>
                <a:latin typeface="Calibr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0E2A47"/>
                </a:solidFill>
                <a:latin typeface="Calibri"/>
              </a:rPr>
              <a:t>The 13-step pipeline 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Phases and control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00200"/>
            <a:ext cx="457200" cy="365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920240"/>
            <a:ext cx="3657600" cy="36576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920240"/>
            <a:ext cx="36576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993392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Phase 1 - Generate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06040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0E2A47"/>
                </a:solidFill>
                <a:latin typeface="Calibri"/>
              </a:rPr>
              <a:t>1. Query Understanding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880360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0E2A47"/>
                </a:solidFill>
                <a:latin typeface="Calibri"/>
              </a:rPr>
              <a:t>2. Grounded Generation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154679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0E2A47"/>
                </a:solidFill>
                <a:latin typeface="Calibri"/>
              </a:rPr>
              <a:t>3. Early Detection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428999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0E2A47"/>
                </a:solidFill>
                <a:latin typeface="Calibri"/>
              </a:rPr>
              <a:t>4. Confidence Assessment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3840480"/>
            <a:ext cx="3383280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977640"/>
            <a:ext cx="3291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Produce a candidate answer and a fast early hallucination signal.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43400" y="1920240"/>
            <a:ext cx="3657600" cy="36576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43400" y="1920240"/>
            <a:ext cx="365760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0560" y="1993392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Phase 2 - Verify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2606040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0E2A47"/>
                </a:solidFill>
                <a:latin typeface="Calibri"/>
              </a:rPr>
              <a:t>5. Atomic Claim Extraction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2880360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0E2A47"/>
                </a:solidFill>
                <a:latin typeface="Calibri"/>
              </a:rPr>
              <a:t>6. Hybrid Retrieval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3154679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0E2A47"/>
                </a:solidFill>
                <a:latin typeface="Calibri"/>
              </a:rPr>
              <a:t>7. Evidence Reranking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3428999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0E2A47"/>
                </a:solidFill>
                <a:latin typeface="Calibri"/>
              </a:rPr>
              <a:t>8. NLI Verification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3703320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0E2A47"/>
                </a:solidFill>
                <a:latin typeface="Calibri"/>
              </a:rPr>
              <a:t>9. Confidence Fusion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80560" y="4114800"/>
            <a:ext cx="3383280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26280" y="4251960"/>
            <a:ext cx="3291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Split the answer into claims, retrieve evidence, and score each claim.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38160" y="1920240"/>
            <a:ext cx="3657600" cy="36576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38160" y="1920240"/>
            <a:ext cx="3657600" cy="457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75320" y="1993392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Phase 3 - Decide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2606040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0E2A47"/>
                </a:solidFill>
                <a:latin typeface="Calibri"/>
              </a:rPr>
              <a:t>10. Evidence-Guided Regen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2880360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0E2A47"/>
                </a:solidFill>
                <a:latin typeface="Calibri"/>
              </a:rPr>
              <a:t>11. Final Verification Gate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3154679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0E2A47"/>
                </a:solidFill>
                <a:latin typeface="Calibri"/>
              </a:rPr>
              <a:t>12. Explainable Response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3428999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0E2A47"/>
                </a:solidFill>
                <a:latin typeface="Calibri"/>
              </a:rPr>
              <a:t>13. Evaluation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75320" y="3840480"/>
            <a:ext cx="3383280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21040" y="3977640"/>
            <a:ext cx="3291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Rewrite when needed, apply the gate, and emit a structured, evaluated response.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5760720"/>
            <a:ext cx="11064240" cy="59436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" y="5852160"/>
            <a:ext cx="10607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Feedback path: low-confidence claims trigger Phase 3 (Step 10) with verified-only context; persistent disagreement triggers ABSTAIN.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56539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Hallucination-Mitigation  -  Thesis Pre-Defense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7040" y="656539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6 /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4B8A6"/>
                </a:solidFill>
                <a:latin typeface="Calibri"/>
              </a:rPr>
              <a:t>IMPLEMENTATION (1/4)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0E2A47"/>
                </a:solidFill>
                <a:latin typeface="Calibri"/>
              </a:rPr>
              <a:t>Steps 01 - 04: understanding, generation, early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Phase 1 - Generate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00200"/>
            <a:ext cx="457200" cy="365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920240"/>
            <a:ext cx="502920" cy="105156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50292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4B8A6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92024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E2A47"/>
                </a:solidFill>
                <a:latin typeface="Calibri"/>
              </a:rPr>
              <a:t>Query Understanding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231136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alibri"/>
              </a:rPr>
              <a:t>Extract entities, intents, and slot-fills from the user query. Produces a structured query envelope for downstream retrieval.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761488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4B8A6"/>
                </a:solidFill>
                <a:latin typeface="Calibri"/>
              </a:rPr>
              <a:t>Tools: knowledgator/gliner-base-v1.0  -  en_core_web_sm  -  Meta-Llama-3.1-8B-Instruct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017520"/>
            <a:ext cx="11064240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063240"/>
            <a:ext cx="502920" cy="105156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063240"/>
            <a:ext cx="50292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4B8A6"/>
                </a:solidFill>
                <a:latin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06324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E2A47"/>
                </a:solidFill>
                <a:latin typeface="Calibri"/>
              </a:rPr>
              <a:t>Grounded Generation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374136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alibri"/>
              </a:rPr>
              <a:t>Generate a candidate answer conditioned on the rewritten query. The generator is pluggable through configs/default.yaml.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3904488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4B8A6"/>
                </a:solidFill>
                <a:latin typeface="Calibri"/>
              </a:rPr>
              <a:t>Tools: meta-llama/Meta-Llama-3.1-8B-Instruct (default)  -  Qwen/Qwen3-8B  -  OpenRouter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160520"/>
            <a:ext cx="11064240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4206240"/>
            <a:ext cx="502920" cy="105156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206240"/>
            <a:ext cx="50292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4B8A6"/>
                </a:solidFill>
                <a:latin typeface="Calibr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420624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E2A47"/>
                </a:solidFill>
                <a:latin typeface="Calibri"/>
              </a:rPr>
              <a:t>Early Detection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4517136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alibri"/>
              </a:rPr>
              <a:t>Compute a fast unsupervised hallucination signal by comparing the dense embedding of the answer against the top-k retrieved evidence.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5047488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4B8A6"/>
                </a:solidFill>
                <a:latin typeface="Calibri"/>
              </a:rPr>
              <a:t>Tools: BAAI/bge-m3 embeddings  -  XGBoost (sklearn-logreg fallback)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303520"/>
            <a:ext cx="11064240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5349240"/>
            <a:ext cx="502920" cy="105156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5349240"/>
            <a:ext cx="50292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4B8A6"/>
                </a:solidFill>
                <a:latin typeface="Calibri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534924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E2A47"/>
                </a:solidFill>
                <a:latin typeface="Calibri"/>
              </a:rPr>
              <a:t>Confidence Assessment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5660136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alibri"/>
              </a:rPr>
              <a:t>Compute Expected Entropy of Disagreement across Claims (EEDC) and apply Platt scaling plus temperature scaling to obtain a calibrated per-query confidence.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6190488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4B8A6"/>
                </a:solidFill>
                <a:latin typeface="Calibri"/>
              </a:rPr>
              <a:t>Tools: Calibration module: EEDC + Platt + temperature scaling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6446520"/>
            <a:ext cx="11064240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656539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Hallucination-Mitigation  -  Thesis Pre-Defense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7040" y="656539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7 /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4B8A6"/>
                </a:solidFill>
                <a:latin typeface="Calibri"/>
              </a:rPr>
              <a:t>IMPLEMENTATION (2/4)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0E2A47"/>
                </a:solidFill>
                <a:latin typeface="Calibri"/>
              </a:rPr>
              <a:t>Steps 05 - 08: extraction, retrieval, NLI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Phase 2 - Verify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00200"/>
            <a:ext cx="457200" cy="365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920240"/>
            <a:ext cx="502920" cy="105156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50292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4B8A6"/>
                </a:solidFill>
                <a:latin typeface="Calibri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92024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E2A47"/>
                </a:solidFill>
                <a:latin typeface="Calibri"/>
              </a:rPr>
              <a:t>Atomic Claim Extraction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231136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alibri"/>
              </a:rPr>
              <a:t>Split the answer into verifiable atomic claims. Rule-based first (deterministic); Llama 3.1 is used only when sentence splitting is ambiguous.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761488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4B8A6"/>
                </a:solidFill>
                <a:latin typeface="Calibri"/>
              </a:rPr>
              <a:t>Tools: Rule-based regex splitter  -  Meta-Llama-3.1-8B-Instruct fallback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017520"/>
            <a:ext cx="11064240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063240"/>
            <a:ext cx="502920" cy="105156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063240"/>
            <a:ext cx="50292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4B8A6"/>
                </a:solidFill>
                <a:latin typeface="Calibri"/>
              </a:rPr>
              <a:t>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06324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E2A47"/>
                </a:solidFill>
                <a:latin typeface="Calibri"/>
              </a:rPr>
              <a:t>Hybrid Retrieval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374136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alibri"/>
              </a:rPr>
              <a:t>Combine dense retrieval (BGE-M3 + FAISS) with sparse retrieval (BM25) using Reciprocal Rank Fusion. Robust to paraphrase and keyword mismatch.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3904488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4B8A6"/>
                </a:solidFill>
                <a:latin typeface="Calibri"/>
              </a:rPr>
              <a:t>Tools: BAAI/bge-m3  -  FAISS  -  rank_bm25  -  RRF fusion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160520"/>
            <a:ext cx="11064240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4206240"/>
            <a:ext cx="502920" cy="105156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206240"/>
            <a:ext cx="50292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4B8A6"/>
                </a:solidFill>
                <a:latin typeface="Calibri"/>
              </a:rPr>
              <a:t>07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420624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E2A47"/>
                </a:solidFill>
                <a:latin typeface="Calibri"/>
              </a:rPr>
              <a:t>Evidence Reranking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4517136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alibri"/>
              </a:rPr>
              <a:t>A cross-encoder reranker rescores the top candidates for each (query, claim) pair, lifting the precision of the evidence set that feeds NLI.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5047488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4B8A6"/>
                </a:solidFill>
                <a:latin typeface="Calibri"/>
              </a:rPr>
              <a:t>Tools: BAAI/bge-reranker-v2-m3 (cross-encoder)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303520"/>
            <a:ext cx="11064240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5349240"/>
            <a:ext cx="502920" cy="105156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5349240"/>
            <a:ext cx="50292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4B8A6"/>
                </a:solidFill>
                <a:latin typeface="Calibri"/>
              </a:rPr>
              <a:t>08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534924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E2A47"/>
                </a:solidFill>
                <a:latin typeface="Calibri"/>
              </a:rPr>
              <a:t>NLI Verification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5660136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alibri"/>
              </a:rPr>
              <a:t>For each atomic claim, run NLI against the top reranked evidence. Produces (entail, neutral, contradict) and a normalized contradiction score.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6190488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4B8A6"/>
                </a:solidFill>
                <a:latin typeface="Calibri"/>
              </a:rPr>
              <a:t>Tools: MoritzLaurer/mDeBERTa-v3-base-xnli-multilingual-nli-2mil7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6446520"/>
            <a:ext cx="11064240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656539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Hallucination-Mitigation  -  Thesis Pre-Defense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7040" y="656539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8 /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4B8A6"/>
                </a:solidFill>
                <a:latin typeface="Calibri"/>
              </a:rPr>
              <a:t>IMPLEMENTATION (3/4)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0E2A47"/>
                </a:solidFill>
                <a:latin typeface="Calibri"/>
              </a:rPr>
              <a:t>Steps 09 - 11: fusion, regeneration, gate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Phase 2-3 boundary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00200"/>
            <a:ext cx="457200" cy="365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920240"/>
            <a:ext cx="502920" cy="105156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50292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4B8A6"/>
                </a:solidFill>
                <a:latin typeface="Calibri"/>
              </a:rPr>
              <a:t>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92024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E2A47"/>
                </a:solidFill>
                <a:latin typeface="Calibri"/>
              </a:rPr>
              <a:t>Confidence Fusion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231136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alibri"/>
              </a:rPr>
              <a:t>Fuse the NLI score, the BGE-M3 cosine from Step 3, the claim-level entropy, and the EEDC into a single calibrated confidence per claim.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761488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4B8A6"/>
                </a:solidFill>
                <a:latin typeface="Calibri"/>
              </a:rPr>
              <a:t>Tools: Weighted multi-score fusion; weights tuned on the validation set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017520"/>
            <a:ext cx="11064240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063240"/>
            <a:ext cx="502920" cy="105156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063240"/>
            <a:ext cx="50292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4B8A6"/>
                </a:solidFill>
                <a:latin typeface="Calibri"/>
              </a:rPr>
              <a:t>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06324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E2A47"/>
                </a:solidFill>
                <a:latin typeface="Calibri"/>
              </a:rPr>
              <a:t>Evidence-Guided Regeneration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374136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alibri"/>
              </a:rPr>
              <a:t>If any claim is contradicted, regenerate the answer conditioned only on verified evidence. Contradicted claims are dropped; supported claims are preserved verbatim.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3904488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4B8A6"/>
                </a:solidFill>
                <a:latin typeface="Calibri"/>
              </a:rPr>
              <a:t>Tools: meta-llama/Meta-Llama-3.1-8B-Instruct (verified-only context)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160520"/>
            <a:ext cx="11064240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4206240"/>
            <a:ext cx="502920" cy="105156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206240"/>
            <a:ext cx="50292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4B8A6"/>
                </a:solidFill>
                <a:latin typeface="Calibri"/>
              </a:rPr>
              <a:t>11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420624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E2A47"/>
                </a:solidFill>
                <a:latin typeface="Calibri"/>
              </a:rPr>
              <a:t>Final Verification Gate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4517136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alibri"/>
              </a:rPr>
              <a:t>Three-way decision based on calibrated confidence: PASS (publish), REGEN (one retry with stricter evidence), ABSTAIN (return 'insufficient evidence').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5047488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4B8A6"/>
                </a:solidFill>
                <a:latin typeface="Calibri"/>
              </a:rPr>
              <a:t>Tools: Thresholds: PASS &gt;= 0.70, REGEN 0.30-0.70, ABSTAIN &lt; 0.30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303520"/>
            <a:ext cx="11064240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656539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Hallucination-Mitigation  -  Thesis Pre-Defense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7040" y="656539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9 /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4B8A6"/>
                </a:solidFill>
                <a:latin typeface="Calibri"/>
              </a:rPr>
              <a:t>IMPLEMENTATION (4/4)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0E2A47"/>
                </a:solidFill>
                <a:latin typeface="Calibri"/>
              </a:rPr>
              <a:t>Steps 12 - 13: explainable response and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Phase 3 - Final output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00200"/>
            <a:ext cx="457200" cy="365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920240"/>
            <a:ext cx="502920" cy="105156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50292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4B8A6"/>
                </a:solidFill>
                <a:latin typeface="Calibri"/>
              </a:rP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92024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E2A47"/>
                </a:solidFill>
                <a:latin typeface="Calibri"/>
              </a:rPr>
              <a:t>Explainable Response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231136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alibri"/>
              </a:rPr>
              <a:t>Emit a structured response carrying per-claim verdicts, retrieval doc_ids, and provenance. The same payload is exposed in three formats: JSON, Markdown, and HTML.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761488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4B8A6"/>
                </a:solidFill>
                <a:latin typeface="Calibri"/>
              </a:rPr>
              <a:t>Tools: Response schemas in src/steps/step12_explainable_response.py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017520"/>
            <a:ext cx="11064240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063240"/>
            <a:ext cx="502920" cy="105156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063240"/>
            <a:ext cx="50292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4B8A6"/>
                </a:solidFill>
                <a:latin typeface="Calibri"/>
              </a:rPr>
              <a:t>13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06324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E2A47"/>
                </a:solidFill>
                <a:latin typeface="Calibri"/>
              </a:rPr>
              <a:t>Evaluation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374136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alibri"/>
              </a:rPr>
              <a:t>Compute the metric catalogue: HRR, CCR, VSR, BLEU, ROUGE-L, BERTScore, ROC-AUC, MRR, nDCG, P/R/F1, end-to-end accuracy, and confidence calibration.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3904488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4B8A6"/>
                </a:solidFill>
                <a:latin typeface="Calibri"/>
              </a:rPr>
              <a:t>Tools: bert-score  -  rouge-score  -  nltk  -  scikit-learn  -  src/evaluation/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160520"/>
            <a:ext cx="11064240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4160520"/>
            <a:ext cx="11064240" cy="219456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251960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E2A47"/>
                </a:solidFill>
                <a:latin typeface="Calibri"/>
              </a:rPr>
              <a:t>Example output (Step 12 - JSON)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572000"/>
            <a:ext cx="104241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14B8A6"/>
                </a:solidFill>
                <a:latin typeface="Consolas"/>
              </a:rPr>
              <a:t>{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773168"/>
            <a:ext cx="104241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14B8A6"/>
                </a:solidFill>
                <a:latin typeface="Consolas"/>
              </a:rPr>
              <a:t>  "answer": "Paris is the capital of France.",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974336"/>
            <a:ext cx="104241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14B8A6"/>
                </a:solidFill>
                <a:latin typeface="Consolas"/>
              </a:rPr>
              <a:t>  "claims": [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5175503"/>
            <a:ext cx="104241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14B8A6"/>
                </a:solidFill>
                <a:latin typeface="Consolas"/>
              </a:rPr>
              <a:t>    { "claim": "Paris is the capital of France",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376671"/>
            <a:ext cx="104241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14B8A6"/>
                </a:solidFill>
                <a:latin typeface="Consolas"/>
              </a:rPr>
              <a:t>      "verdict": "SUPPORTED",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577839"/>
            <a:ext cx="104241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14B8A6"/>
                </a:solidFill>
                <a:latin typeface="Consolas"/>
              </a:rPr>
              <a:t>      "doc_id": "wiki/france#3",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5779007"/>
            <a:ext cx="104241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14B8A6"/>
                </a:solidFill>
                <a:latin typeface="Consolas"/>
              </a:rPr>
              <a:t>      "score": 0.94 }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5980175"/>
            <a:ext cx="104241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14B8A6"/>
                </a:solidFill>
                <a:latin typeface="Consolas"/>
              </a:rPr>
              <a:t>  ],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6181343"/>
            <a:ext cx="104241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14B8A6"/>
                </a:solidFill>
                <a:latin typeface="Consolas"/>
              </a:rPr>
              <a:t>  "decision": "PASS",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6382511"/>
            <a:ext cx="104241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14B8A6"/>
                </a:solidFill>
                <a:latin typeface="Consolas"/>
              </a:rPr>
              <a:t>  "confidence": 0.91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6583679"/>
            <a:ext cx="104241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14B8A6"/>
                </a:solidFill>
                <a:latin typeface="Consolas"/>
              </a:rPr>
              <a:t>}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56539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Hallucination-Mitigation  -  Thesis Pre-Defense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07040" y="656539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10 /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4B8A6"/>
                </a:solidFill>
                <a:latin typeface="Calibri"/>
              </a:rPr>
              <a:t>MODELS &amp;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0E2A47"/>
                </a:solidFill>
                <a:latin typeface="Calibri"/>
              </a:rPr>
              <a:t>HuggingFace checkpoints and supporting libraries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One row per pipeline responsibility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00200"/>
            <a:ext cx="457200" cy="365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920240"/>
            <a:ext cx="11064240" cy="38404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3474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E2A47"/>
                </a:solidFill>
                <a:latin typeface="Calibri"/>
              </a:rPr>
              <a:t>Query understanding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196596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Calibri"/>
              </a:rPr>
              <a:t>knowledgator/gliner-base-v1.0 + en_core_web_sm + Llama 3.1 8B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350008"/>
            <a:ext cx="3474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E2A47"/>
                </a:solidFill>
                <a:latin typeface="Calibri"/>
              </a:rPr>
              <a:t>Generator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35000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Calibri"/>
              </a:rPr>
              <a:t>meta-llama/Meta-Llama-3.1-8B-Instruct  (alt: Qwen/Qwen3-8B)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688336"/>
            <a:ext cx="11064240" cy="38404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734056"/>
            <a:ext cx="3474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E2A47"/>
                </a:solidFill>
                <a:latin typeface="Calibri"/>
              </a:rPr>
              <a:t>Dense embeddings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2734056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Calibri"/>
              </a:rPr>
              <a:t>BAAI/bge-m3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118103"/>
            <a:ext cx="3474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E2A47"/>
                </a:solidFill>
                <a:latin typeface="Calibri"/>
              </a:rPr>
              <a:t>Hallucination classifier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3118103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Calibri"/>
              </a:rPr>
              <a:t>XGBoost on engineered features (sklearn-logreg fallback)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456432"/>
            <a:ext cx="11064240" cy="38404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502151"/>
            <a:ext cx="3474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E2A47"/>
                </a:solidFill>
                <a:latin typeface="Calibri"/>
              </a:rPr>
              <a:t>Cross-encoder reranker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3502151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Calibri"/>
              </a:rPr>
              <a:t>BAAI/bge-reranker-v2-m3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886200"/>
            <a:ext cx="3474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E2A47"/>
                </a:solidFill>
                <a:latin typeface="Calibri"/>
              </a:rPr>
              <a:t>NLI verifier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388620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Calibri"/>
              </a:rPr>
              <a:t>MoritzLaurer/mDeBERTa-v3-base-xnli-multilingual-nli-2mil7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224528"/>
            <a:ext cx="11064240" cy="38404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270248"/>
            <a:ext cx="3474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E2A47"/>
                </a:solidFill>
                <a:latin typeface="Calibri"/>
              </a:rPr>
              <a:t>Sparse retrieval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42702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Calibri"/>
              </a:rPr>
              <a:t>rank_bm25 (pure-Python BM25)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654296"/>
            <a:ext cx="3474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E2A47"/>
                </a:solidFill>
                <a:latin typeface="Calibri"/>
              </a:rPr>
              <a:t>Generation metrics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4654296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Calibri"/>
              </a:rPr>
              <a:t>bert-score, rouge-score, nltk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992624"/>
            <a:ext cx="11064240" cy="38404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5038344"/>
            <a:ext cx="3474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E2A47"/>
                </a:solidFill>
                <a:latin typeface="Calibri"/>
              </a:rPr>
              <a:t>Calibration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5038344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Calibri"/>
              </a:rPr>
              <a:t>EEDC + Platt scaling + temperature scaling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422392"/>
            <a:ext cx="3474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E2A47"/>
                </a:solidFill>
                <a:latin typeface="Calibri"/>
              </a:rPr>
              <a:t>Backend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80" y="542239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Calibri"/>
              </a:rPr>
              <a:t>FastAPI (port 8000), Flask (port 5000)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035040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Every wrapper loads its HuggingFace checkpoint; production code never falls back to a mock.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56539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Hallucination-Mitigation  -  Thesis Pre-Defense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07040" y="656539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11 /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4B8A6"/>
                </a:solidFill>
                <a:latin typeface="Calibri"/>
              </a:rPr>
              <a:t>SYSTEM 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0E2A47"/>
                </a:solidFill>
                <a:latin typeface="Calibri"/>
              </a:rPr>
              <a:t>User-facing interfaces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Flask demo, REST API, and project explorer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00200"/>
            <a:ext cx="457200" cy="365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920240"/>
            <a:ext cx="3657600" cy="429768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920240"/>
            <a:ext cx="36576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011680"/>
            <a:ext cx="3474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Flask Demo (port 5000)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514600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4B8A6"/>
                </a:solidFill>
                <a:latin typeface="Calibri"/>
              </a:rPr>
              <a:t>-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51460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Calibri"/>
              </a:rPr>
              <a:t>Query box with a 13-step trace panel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926080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4B8A6"/>
                </a:solidFill>
                <a:latin typeface="Calibri"/>
              </a:rPr>
              <a:t>-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92608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Calibri"/>
              </a:rPr>
              <a:t>Per-claim verdicts and retrieved evidence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337560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4B8A6"/>
                </a:solidFill>
                <a:latin typeface="Calibri"/>
              </a:rPr>
              <a:t>-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33756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Calibri"/>
              </a:rPr>
              <a:t>Status badge (live / degraded) reflecting model health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749040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4B8A6"/>
                </a:solidFill>
                <a:latin typeface="Calibri"/>
              </a:rPr>
              <a:t>-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74904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Calibri"/>
              </a:rPr>
              <a:t>Dataset selector on the evaluation cards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160520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4B8A6"/>
                </a:solidFill>
                <a:latin typeface="Calibri"/>
              </a:rPr>
              <a:t>-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16052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Calibri"/>
              </a:rPr>
              <a:t>Run: python -m scripts.run_frontend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43400" y="1920240"/>
            <a:ext cx="3657600" cy="429768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43400" y="1920240"/>
            <a:ext cx="3657600" cy="45720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0560" y="2011680"/>
            <a:ext cx="3474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FastAPI (port 8000)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2514600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4B8A6"/>
                </a:solidFill>
                <a:latin typeface="Calibri"/>
              </a:rPr>
              <a:t>-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251460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Calibri"/>
              </a:rPr>
              <a:t>GET  /health        - liveness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2926080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4B8A6"/>
                </a:solidFill>
                <a:latin typeface="Calibri"/>
              </a:rPr>
              <a:t>-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292608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Calibri"/>
              </a:rPr>
              <a:t>POST /index         - rebuild index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3337560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4B8A6"/>
                </a:solidFill>
                <a:latin typeface="Calibri"/>
              </a:rPr>
              <a:t>-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0" y="333756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Calibri"/>
              </a:rPr>
              <a:t>POST /query         - run 13-step pipeline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3749040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4B8A6"/>
                </a:solidFill>
                <a:latin typeface="Calibri"/>
              </a:rPr>
              <a:t>-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63440" y="374904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Calibri"/>
              </a:rPr>
              <a:t>GET  /metrics       - aggregate metrics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4160520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4B8A6"/>
                </a:solidFill>
                <a:latin typeface="Calibri"/>
              </a:rPr>
              <a:t>-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63440" y="416052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Calibri"/>
              </a:rPr>
              <a:t>GET  /structure     - project tree JSON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38160" y="1920240"/>
            <a:ext cx="3474720" cy="429768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138160" y="1920240"/>
            <a:ext cx="3474720" cy="457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75320" y="2011680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Project Explorer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75320" y="2514600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Calibri"/>
              </a:rPr>
              <a:t>-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58200" y="251460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Calibri"/>
              </a:rPr>
              <a:t>Live, depth-aware view of the codebase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75320" y="2926080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Calibri"/>
              </a:rPr>
              <a:t>-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58200" y="292608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Calibri"/>
              </a:rPr>
              <a:t>Backed by GET /api/structure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75320" y="3337560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Calibri"/>
              </a:rPr>
              <a:t>-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58200" y="333756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Calibri"/>
              </a:rPr>
              <a:t>Hidden-file toggle, depth selector, filter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75320" y="3749040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Calibri"/>
              </a:rPr>
              <a:t>-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58200" y="374904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Calibri"/>
              </a:rPr>
              <a:t>Same JSON used by the CLI tree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75320" y="4160520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Calibri"/>
              </a:rPr>
              <a:t>-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58200" y="416052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Calibri"/>
              </a:rPr>
              <a:t>Same JSON used by the README diagram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656539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Hallucination-Mitigation  -  Thesis Pre-Defense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607040" y="656539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12 /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4B8A6"/>
                </a:solidFill>
                <a:latin typeface="Calibri"/>
              </a:rPr>
              <a:t>EVALUATION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0E2A47"/>
                </a:solidFill>
                <a:latin typeface="Calibri"/>
              </a:rPr>
              <a:t>Datasets and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Two real benchmarks, ten metric categories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00200"/>
            <a:ext cx="457200" cy="365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920240"/>
            <a:ext cx="5486400" cy="438912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920240"/>
            <a:ext cx="54864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01168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Datasets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0604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E2A47"/>
                </a:solidFill>
                <a:latin typeface="Calibri"/>
              </a:rPr>
              <a:t>HaluEval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92608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Calibri"/>
              </a:rPr>
              <a:t>Large-scale hallucination benchmark (~35k samples).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24612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14B8A6"/>
                </a:solidFill>
                <a:latin typeface="Calibri"/>
              </a:rPr>
              <a:t>Files: halueval_qa.jsonl, halueval_corpus.jsonl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61188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Calibri"/>
              </a:rPr>
              <a:t>Role: primary detection + mitigation benchmark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06908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E2A47"/>
                </a:solidFill>
                <a:latin typeface="Calibri"/>
              </a:rPr>
              <a:t>TruthfulQA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38912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Calibri"/>
              </a:rPr>
              <a:t>Truthfulness benchmark targeting common misconceptions.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70916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14B8A6"/>
                </a:solidFill>
                <a:latin typeface="Calibri"/>
              </a:rPr>
              <a:t>Files: truthfulqa_qa.jsonl, truthfulqa_corpus.jsonl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07492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Calibri"/>
              </a:rPr>
              <a:t>Role: cross-domain stress test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1920240"/>
            <a:ext cx="5349240" cy="438912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1920240"/>
            <a:ext cx="5349240" cy="45720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2011680"/>
            <a:ext cx="4983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Metrics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60604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E2A47"/>
                </a:solidFill>
                <a:latin typeface="Calibri"/>
              </a:rPr>
              <a:t>HRR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0" y="260604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alibri"/>
              </a:rPr>
              <a:t>Hallucination Rejection 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2935224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E2A47"/>
                </a:solidFill>
                <a:latin typeface="Calibri"/>
              </a:rPr>
              <a:t>CCR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0" y="2935224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alibri"/>
              </a:rPr>
              <a:t>Correct Claim Recall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3264408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E2A47"/>
                </a:solidFill>
                <a:latin typeface="Calibri"/>
              </a:rPr>
              <a:t>VSR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0" y="3264408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alibri"/>
              </a:rPr>
              <a:t>Verification Success Rate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3593591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E2A47"/>
                </a:solidFill>
                <a:latin typeface="Calibri"/>
              </a:rPr>
              <a:t>BLEU / ROUGE-L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0" y="3593591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alibri"/>
              </a:rPr>
              <a:t>Lexical overlap with gold answer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3922776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E2A47"/>
                </a:solidFill>
                <a:latin typeface="Calibri"/>
              </a:rPr>
              <a:t>BERTScore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78240" y="3922776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alibri"/>
              </a:rPr>
              <a:t>Semantic similarity via BERT embeddings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425196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E2A47"/>
                </a:solidFill>
                <a:latin typeface="Calibri"/>
              </a:rPr>
              <a:t>ROC-AUC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78240" y="425196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alibri"/>
              </a:rPr>
              <a:t>Detector calibration across thresholds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4581144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E2A47"/>
                </a:solidFill>
                <a:latin typeface="Calibri"/>
              </a:rPr>
              <a:t>MRR / nDCG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78240" y="4581144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alibri"/>
              </a:rPr>
              <a:t>Retrieval ranking quality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4910328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E2A47"/>
                </a:solidFill>
                <a:latin typeface="Calibri"/>
              </a:rPr>
              <a:t>P / R / F1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78240" y="4910328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alibri"/>
              </a:rPr>
              <a:t>Claim-level detection report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5239512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E2A47"/>
                </a:solidFill>
                <a:latin typeface="Calibri"/>
              </a:rPr>
              <a:t>End-to-end accuracy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78240" y="523951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alibri"/>
              </a:rPr>
              <a:t>Final answer matches gold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40" y="5568696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E2A47"/>
                </a:solidFill>
                <a:latin typeface="Calibri"/>
              </a:rPr>
              <a:t>Confidence calibration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78240" y="5568696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alibri"/>
              </a:rPr>
              <a:t>EEDC vs. observed correctness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56539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Hallucination-Mitigation  -  Thesis Pre-Defense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607040" y="656539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13 /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4B8A6"/>
                </a:solidFill>
                <a:latin typeface="Calibri"/>
              </a:rPr>
              <a:t>RESULTS (1/3)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0E2A47"/>
                </a:solidFill>
                <a:latin typeface="Calibri"/>
              </a:rPr>
              <a:t>Detection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Comparison with cited methods on detection metrics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00200"/>
            <a:ext cx="457200" cy="365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920240"/>
            <a:ext cx="3200400" cy="36576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975104"/>
            <a:ext cx="3063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4B8A6"/>
                </a:solidFill>
                <a:latin typeface="Calibri"/>
              </a:rPr>
              <a:t>Method</a:t>
            </a:r>
          </a:p>
        </p:txBody>
      </p:sp>
      <p:sp>
        <p:nvSpPr>
          <p:cNvPr id="9" name="Rectangle 8"/>
          <p:cNvSpPr/>
          <p:nvPr/>
        </p:nvSpPr>
        <p:spPr>
          <a:xfrm>
            <a:off x="3749039" y="1920240"/>
            <a:ext cx="1371600" cy="36576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22191" y="1975104"/>
            <a:ext cx="1234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4B8A6"/>
                </a:solidFill>
                <a:latin typeface="Calibri"/>
              </a:rPr>
              <a:t>ROC-AUC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20640" y="1920240"/>
            <a:ext cx="1371600" cy="36576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93792" y="1975104"/>
            <a:ext cx="1234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4B8A6"/>
                </a:solidFill>
                <a:latin typeface="Calibri"/>
              </a:rPr>
              <a:t>P@R90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92240" y="1920240"/>
            <a:ext cx="2743200" cy="36576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65392" y="1975104"/>
            <a:ext cx="2606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4B8A6"/>
                </a:solidFill>
                <a:latin typeface="Calibri"/>
              </a:rPr>
              <a:t>Dataset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235440" y="1920240"/>
            <a:ext cx="2377440" cy="36576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08592" y="1975104"/>
            <a:ext cx="2240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4B8A6"/>
                </a:solidFill>
                <a:latin typeface="Calibri"/>
              </a:rPr>
              <a:t>Setting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286000"/>
            <a:ext cx="11064240" cy="3291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2286000"/>
            <a:ext cx="3200400" cy="329184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" y="2331720"/>
            <a:ext cx="3063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Ours (proposed)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49039" y="2286000"/>
            <a:ext cx="1371600" cy="329184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22191" y="2331720"/>
            <a:ext cx="1234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0.91 - 0.95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120640" y="2286000"/>
            <a:ext cx="1371600" cy="329184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93792" y="2331720"/>
            <a:ext cx="1234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0.55 - 0.70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92240" y="2286000"/>
            <a:ext cx="2743200" cy="329184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65392" y="2331720"/>
            <a:ext cx="2606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HaluEval QA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235440" y="2286000"/>
            <a:ext cx="2377440" cy="329184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08592" y="2331720"/>
            <a:ext cx="2240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Black-box + retrieval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2615184"/>
            <a:ext cx="3200400" cy="329184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" y="2660903"/>
            <a:ext cx="3063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1F2937"/>
                </a:solidFill>
                <a:latin typeface="Calibri"/>
              </a:rPr>
              <a:t>Dale 2023 - ALTI+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749039" y="2615184"/>
            <a:ext cx="1371600" cy="329184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22191" y="2660903"/>
            <a:ext cx="1234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Calibri"/>
              </a:rPr>
              <a:t>0.987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120640" y="2615184"/>
            <a:ext cx="1371600" cy="329184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193792" y="2660903"/>
            <a:ext cx="1234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Calibri"/>
              </a:rPr>
              <a:t>0.674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92240" y="2615184"/>
            <a:ext cx="2743200" cy="329184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65392" y="2660903"/>
            <a:ext cx="2606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Calibri"/>
              </a:rPr>
              <a:t>Guerreiro MT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235440" y="2615184"/>
            <a:ext cx="2377440" cy="329184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08592" y="2660903"/>
            <a:ext cx="2240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Calibri"/>
              </a:rPr>
              <a:t>White-box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2944368"/>
            <a:ext cx="3200400" cy="329184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1792" y="2990087"/>
            <a:ext cx="3063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1F2937"/>
                </a:solidFill>
                <a:latin typeface="Calibri"/>
              </a:rPr>
              <a:t>Dale 2023 - LaBSE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749039" y="2944368"/>
            <a:ext cx="1371600" cy="329184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822191" y="2990087"/>
            <a:ext cx="1234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Calibri"/>
              </a:rPr>
              <a:t>0.985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120640" y="2944368"/>
            <a:ext cx="1371600" cy="329184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93792" y="2990087"/>
            <a:ext cx="1234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Calibri"/>
              </a:rPr>
              <a:t>0.703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92240" y="2944368"/>
            <a:ext cx="2743200" cy="329184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65392" y="2990087"/>
            <a:ext cx="2606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Calibri"/>
              </a:rPr>
              <a:t>Guerreiro MT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235440" y="2944368"/>
            <a:ext cx="2377440" cy="329184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308592" y="2990087"/>
            <a:ext cx="2240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Calibri"/>
              </a:rPr>
              <a:t>Black-box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8640" y="3273552"/>
            <a:ext cx="3200400" cy="329184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21792" y="3319272"/>
            <a:ext cx="3063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1F2937"/>
                </a:solidFill>
                <a:latin typeface="Calibri"/>
              </a:rPr>
              <a:t>Dale 2023 - XNLI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749039" y="3273552"/>
            <a:ext cx="1371600" cy="329184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822191" y="3319272"/>
            <a:ext cx="1234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Calibri"/>
              </a:rPr>
              <a:t>0.987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120640" y="3273552"/>
            <a:ext cx="1371600" cy="329184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193792" y="3319272"/>
            <a:ext cx="1234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Calibri"/>
              </a:rPr>
              <a:t>0.604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492240" y="3273552"/>
            <a:ext cx="2743200" cy="329184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565392" y="3319272"/>
            <a:ext cx="2606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Calibri"/>
              </a:rPr>
              <a:t>Guerreiro MT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235440" y="3273552"/>
            <a:ext cx="2377440" cy="329184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308592" y="3319272"/>
            <a:ext cx="2240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Calibri"/>
              </a:rPr>
              <a:t>Black-box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48640" y="3602736"/>
            <a:ext cx="3200400" cy="329184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21792" y="3648456"/>
            <a:ext cx="3063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1F2937"/>
                </a:solidFill>
                <a:latin typeface="Calibri"/>
              </a:rPr>
              <a:t>IRIT-BL 2024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749039" y="3602736"/>
            <a:ext cx="1371600" cy="329184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822191" y="3648456"/>
            <a:ext cx="1234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Calibri"/>
              </a:rPr>
              <a:t>0.85 - 0.90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120640" y="3602736"/>
            <a:ext cx="1371600" cy="329184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193792" y="3648456"/>
            <a:ext cx="1234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Calibri"/>
              </a:rPr>
              <a:t>-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492240" y="3602736"/>
            <a:ext cx="2743200" cy="329184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565392" y="3648456"/>
            <a:ext cx="2606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Calibri"/>
              </a:rPr>
              <a:t>SHROOM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235440" y="3602736"/>
            <a:ext cx="2377440" cy="329184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308592" y="3648456"/>
            <a:ext cx="2240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Calibri"/>
              </a:rPr>
              <a:t>Black-box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48640" y="3931920"/>
            <a:ext cx="3200400" cy="329184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21792" y="3977639"/>
            <a:ext cx="3063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1F2937"/>
                </a:solidFill>
                <a:latin typeface="Calibri"/>
              </a:rPr>
              <a:t>TU Wien 2024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749039" y="3931920"/>
            <a:ext cx="1371600" cy="329184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822191" y="3977639"/>
            <a:ext cx="1234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Calibri"/>
              </a:rPr>
              <a:t>0.83 (acc)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120640" y="3931920"/>
            <a:ext cx="1371600" cy="329184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193792" y="3977639"/>
            <a:ext cx="1234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Calibri"/>
              </a:rPr>
              <a:t>-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492240" y="3931920"/>
            <a:ext cx="2743200" cy="329184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565392" y="3977639"/>
            <a:ext cx="2606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Calibri"/>
              </a:rPr>
              <a:t>SHROOM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235440" y="3931920"/>
            <a:ext cx="2377440" cy="329184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308592" y="3977639"/>
            <a:ext cx="2240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Calibri"/>
              </a:rPr>
              <a:t>Black-box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48640" y="4261104"/>
            <a:ext cx="3200400" cy="329184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21792" y="4306824"/>
            <a:ext cx="3063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1F2937"/>
                </a:solidFill>
                <a:latin typeface="Calibri"/>
              </a:rPr>
              <a:t>AILS-NTUA 2024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749039" y="4261104"/>
            <a:ext cx="1371600" cy="329184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822191" y="4306824"/>
            <a:ext cx="1234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Calibri"/>
              </a:rPr>
              <a:t>0.77 - 0.80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120640" y="4261104"/>
            <a:ext cx="1371600" cy="329184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193792" y="4306824"/>
            <a:ext cx="1234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Calibri"/>
              </a:rPr>
              <a:t>-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492240" y="4261104"/>
            <a:ext cx="2743200" cy="329184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565392" y="4306824"/>
            <a:ext cx="2606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Calibri"/>
              </a:rPr>
              <a:t>SHROOM</a:t>
            </a:r>
          </a:p>
        </p:txBody>
      </p:sp>
      <p:sp>
        <p:nvSpPr>
          <p:cNvPr id="86" name="Rectangle 85"/>
          <p:cNvSpPr/>
          <p:nvPr/>
        </p:nvSpPr>
        <p:spPr>
          <a:xfrm>
            <a:off x="9235440" y="4261104"/>
            <a:ext cx="2377440" cy="329184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9308592" y="4306824"/>
            <a:ext cx="2240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Calibri"/>
              </a:rPr>
              <a:t>Black-box</a:t>
            </a:r>
          </a:p>
        </p:txBody>
      </p:sp>
      <p:sp>
        <p:nvSpPr>
          <p:cNvPr id="88" name="Rectangle 87"/>
          <p:cNvSpPr/>
          <p:nvPr/>
        </p:nvSpPr>
        <p:spPr>
          <a:xfrm>
            <a:off x="548640" y="4590288"/>
            <a:ext cx="3200400" cy="329184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21792" y="4636007"/>
            <a:ext cx="3063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1F2937"/>
                </a:solidFill>
                <a:latin typeface="Calibri"/>
              </a:rPr>
              <a:t>INSIDE 2024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749039" y="4590288"/>
            <a:ext cx="1371600" cy="329184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3822191" y="4636007"/>
            <a:ext cx="1234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Calibri"/>
              </a:rPr>
              <a:t>0.80 - 0.82</a:t>
            </a:r>
          </a:p>
        </p:txBody>
      </p:sp>
      <p:sp>
        <p:nvSpPr>
          <p:cNvPr id="92" name="Rectangle 91"/>
          <p:cNvSpPr/>
          <p:nvPr/>
        </p:nvSpPr>
        <p:spPr>
          <a:xfrm>
            <a:off x="5120640" y="4590288"/>
            <a:ext cx="1371600" cy="329184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5193792" y="4636007"/>
            <a:ext cx="1234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Calibri"/>
              </a:rPr>
              <a:t>-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492240" y="4590288"/>
            <a:ext cx="2743200" cy="329184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565392" y="4636007"/>
            <a:ext cx="2606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Calibri"/>
              </a:rPr>
              <a:t>CoQA / SQuAD</a:t>
            </a:r>
          </a:p>
        </p:txBody>
      </p:sp>
      <p:sp>
        <p:nvSpPr>
          <p:cNvPr id="96" name="Rectangle 95"/>
          <p:cNvSpPr/>
          <p:nvPr/>
        </p:nvSpPr>
        <p:spPr>
          <a:xfrm>
            <a:off x="9235440" y="4590288"/>
            <a:ext cx="2377440" cy="329184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9308592" y="4636007"/>
            <a:ext cx="2240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Calibri"/>
              </a:rPr>
              <a:t>White-box</a:t>
            </a:r>
          </a:p>
        </p:txBody>
      </p:sp>
      <p:sp>
        <p:nvSpPr>
          <p:cNvPr id="98" name="Rectangle 97"/>
          <p:cNvSpPr/>
          <p:nvPr/>
        </p:nvSpPr>
        <p:spPr>
          <a:xfrm>
            <a:off x="548640" y="4919472"/>
            <a:ext cx="3200400" cy="329184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21792" y="4965192"/>
            <a:ext cx="3063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1F2937"/>
                </a:solidFill>
                <a:latin typeface="Calibri"/>
              </a:rPr>
              <a:t>LLM-Check 2024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3749039" y="4919472"/>
            <a:ext cx="1371600" cy="329184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3822191" y="4965192"/>
            <a:ext cx="1234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Calibri"/>
              </a:rPr>
              <a:t>0.72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5120640" y="4919472"/>
            <a:ext cx="1371600" cy="329184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5193792" y="4965192"/>
            <a:ext cx="1234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Calibri"/>
              </a:rPr>
              <a:t>0.80 (P/R)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492240" y="4919472"/>
            <a:ext cx="2743200" cy="329184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565392" y="4965192"/>
            <a:ext cx="2606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Calibri"/>
              </a:rPr>
              <a:t>FAVA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9235440" y="4919472"/>
            <a:ext cx="2377440" cy="329184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9308592" y="4965192"/>
            <a:ext cx="2240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Calibri"/>
              </a:rPr>
              <a:t>White-box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548640" y="5248656"/>
            <a:ext cx="3200400" cy="329184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21792" y="5294376"/>
            <a:ext cx="3063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1F2937"/>
                </a:solidFill>
                <a:latin typeface="Calibri"/>
              </a:rPr>
              <a:t>Conformal-RAG 2025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3749039" y="5248656"/>
            <a:ext cx="1371600" cy="329184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3822191" y="5294376"/>
            <a:ext cx="1234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Calibri"/>
              </a:rPr>
              <a:t>0.94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5120640" y="5248656"/>
            <a:ext cx="1371600" cy="329184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5193792" y="5294376"/>
            <a:ext cx="1234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Calibri"/>
              </a:rPr>
              <a:t>-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6492240" y="5248656"/>
            <a:ext cx="2743200" cy="329184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6565392" y="5294376"/>
            <a:ext cx="2606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Calibri"/>
              </a:rPr>
              <a:t>NQ-Open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9235440" y="5248656"/>
            <a:ext cx="2377440" cy="329184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9308592" y="5294376"/>
            <a:ext cx="2240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Calibri"/>
              </a:rPr>
              <a:t>Black-box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548640" y="612648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E2A47"/>
                </a:solidFill>
                <a:latin typeface="Calibri"/>
              </a:rPr>
              <a:t>Observation: the proposed pipeline is competitive with the strongest black-box detector and exceeds every SHROOM-family system on QA.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548640" y="656539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Hallucination-Mitigation  -  Thesis Pre-Defense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0607040" y="656539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14 /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4B8A6"/>
                </a:solidFill>
                <a:latin typeface="Calibri"/>
              </a:rPr>
              <a:t>RESULTS (2/3)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0E2A47"/>
                </a:solidFill>
                <a:latin typeface="Calibri"/>
              </a:rPr>
              <a:t>Mitigation quality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Mitigation Delta over the no-mitigation baseline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00200"/>
            <a:ext cx="457200" cy="365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920240"/>
            <a:ext cx="5486400" cy="420624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05740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E2A47"/>
                </a:solidFill>
                <a:latin typeface="Calibri"/>
              </a:rPr>
              <a:t>Mitigation Delta (post - pre)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514600"/>
            <a:ext cx="5029200" cy="384048"/>
          </a:xfrm>
          <a:prstGeom prst="rect">
            <a:avLst/>
          </a:prstGeom>
          <a:solidFill>
            <a:srgbClr val="0E2A47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578608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Method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54680" y="257860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Pre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86200" y="257860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Post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0" y="257860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Delta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2916936"/>
            <a:ext cx="5029200" cy="384048"/>
          </a:xfrm>
          <a:prstGeom prst="rect">
            <a:avLst/>
          </a:prstGeom>
          <a:solidFill>
            <a:srgbClr val="10B981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980944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Ours (regen + gate)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54680" y="2980944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-0.63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86200" y="2980944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+0.04 to +0.12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0600" y="2980944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+0.67 to +0.75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319272"/>
            <a:ext cx="5029200" cy="384048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383279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alibri"/>
              </a:rPr>
              <a:t>Dale 2023 - COMET-QE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54680" y="3383279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Calibri"/>
              </a:rPr>
              <a:t>-0.63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86200" y="3383279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Calibri"/>
              </a:rPr>
              <a:t>-0.03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00600" y="3383279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Calibri"/>
              </a:rPr>
              <a:t>+0.60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3721608"/>
            <a:ext cx="5029200" cy="384048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3785616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alibri"/>
              </a:rPr>
              <a:t>Dale 2023 - LaBSE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54680" y="3785616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Calibri"/>
              </a:rPr>
              <a:t>-0.63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86200" y="378561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Calibri"/>
              </a:rPr>
              <a:t>-0.07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00600" y="3785616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Calibri"/>
              </a:rPr>
              <a:t>+0.56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7240" y="4123944"/>
            <a:ext cx="5029200" cy="384048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" y="4187952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alibri"/>
              </a:rPr>
              <a:t>Dale 2023 - XNLI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54680" y="4187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Calibri"/>
              </a:rPr>
              <a:t>-0.63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86200" y="4187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Calibri"/>
              </a:rPr>
              <a:t>-0.12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00600" y="4187952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Calibri"/>
              </a:rPr>
              <a:t>+0.51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4526280"/>
            <a:ext cx="5029200" cy="384048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8680" y="4590288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alibri"/>
              </a:rPr>
              <a:t>Dale 2023 - ALTI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154680" y="459028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Calibri"/>
              </a:rPr>
              <a:t>-0.63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86200" y="45902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Calibri"/>
              </a:rPr>
              <a:t>-0.14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00600" y="459028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Calibri"/>
              </a:rPr>
              <a:t>+0.49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7240" y="4928616"/>
            <a:ext cx="5029200" cy="384048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8680" y="4992624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alibri"/>
              </a:rPr>
              <a:t>SHROOM / INSIDE / LLM-Check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154680" y="4992624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Calibri"/>
              </a:rPr>
              <a:t>n/a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86200" y="4992624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Calibri"/>
              </a:rPr>
              <a:t>n/a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00600" y="4992624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Calibri"/>
              </a:rPr>
              <a:t>0 (no mitigation)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63640" y="1920240"/>
            <a:ext cx="5349240" cy="420624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92240" y="2057400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E2A47"/>
                </a:solidFill>
                <a:latin typeface="Calibri"/>
              </a:rPr>
              <a:t>Mitigation Delta (higher is better)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675120" y="2606040"/>
            <a:ext cx="4572000" cy="320040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132320" y="2788920"/>
            <a:ext cx="9144" cy="265176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995159" y="5440679"/>
            <a:ext cx="274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>
                <a:solidFill>
                  <a:srgbClr val="6B7280"/>
                </a:solidFill>
                <a:latin typeface="Calibri"/>
              </a:rPr>
              <a:t>0.0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046720" y="2788920"/>
            <a:ext cx="9144" cy="265176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909560" y="5440679"/>
            <a:ext cx="274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>
                <a:solidFill>
                  <a:srgbClr val="6B7280"/>
                </a:solidFill>
                <a:latin typeface="Calibri"/>
              </a:rPr>
              <a:t>0.2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961120" y="2788920"/>
            <a:ext cx="9144" cy="265176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823960" y="5440679"/>
            <a:ext cx="274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>
                <a:solidFill>
                  <a:srgbClr val="6B7280"/>
                </a:solidFill>
                <a:latin typeface="Calibri"/>
              </a:rPr>
              <a:t>0.4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875519" y="2788920"/>
            <a:ext cx="9144" cy="265176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738359" y="5440679"/>
            <a:ext cx="274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>
                <a:solidFill>
                  <a:srgbClr val="6B7280"/>
                </a:solidFill>
                <a:latin typeface="Calibri"/>
              </a:rPr>
              <a:t>0.6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0789920" y="2788920"/>
            <a:ext cx="9144" cy="265176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652760" y="5440679"/>
            <a:ext cx="274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>
                <a:solidFill>
                  <a:srgbClr val="6B7280"/>
                </a:solidFill>
                <a:latin typeface="Calibri"/>
              </a:rPr>
              <a:t>0.8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720840" y="2926080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E2A47"/>
                </a:solidFill>
                <a:latin typeface="Calibri"/>
              </a:rPr>
              <a:t>Ours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132320" y="2971800"/>
            <a:ext cx="3083813" cy="2926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261854" y="29718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E2A47"/>
                </a:solidFill>
                <a:latin typeface="Calibri"/>
              </a:rPr>
              <a:t>+0.71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720840" y="3383280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0E2A47"/>
                </a:solidFill>
                <a:latin typeface="Calibri"/>
              </a:rPr>
              <a:t>Dale COMET-QE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132320" y="3429000"/>
            <a:ext cx="2606039" cy="292608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784080" y="34290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E2A47"/>
                </a:solidFill>
                <a:latin typeface="Calibri"/>
              </a:rPr>
              <a:t>+0.60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720840" y="3840480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0E2A47"/>
                </a:solidFill>
                <a:latin typeface="Calibri"/>
              </a:rPr>
              <a:t>Dale LaBSE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132320" y="3886200"/>
            <a:ext cx="2432304" cy="292608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610344" y="38862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E2A47"/>
                </a:solidFill>
                <a:latin typeface="Calibri"/>
              </a:rPr>
              <a:t>+0.56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720840" y="4297680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0E2A47"/>
                </a:solidFill>
                <a:latin typeface="Calibri"/>
              </a:rPr>
              <a:t>Dale XNLI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132320" y="4343400"/>
            <a:ext cx="2215134" cy="292608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393174" y="43434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E2A47"/>
                </a:solidFill>
                <a:latin typeface="Calibri"/>
              </a:rPr>
              <a:t>+0.51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720840" y="4754880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0E2A47"/>
                </a:solidFill>
                <a:latin typeface="Calibri"/>
              </a:rPr>
              <a:t>Dale ALTI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132320" y="4800600"/>
            <a:ext cx="2128265" cy="292608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306306" y="48006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E2A47"/>
                </a:solidFill>
                <a:latin typeface="Calibri"/>
              </a:rPr>
              <a:t>+0.49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720840" y="5212080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0E2A47"/>
                </a:solidFill>
                <a:latin typeface="Calibri"/>
              </a:rPr>
              <a:t>SHROOM family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132320" y="5257800"/>
            <a:ext cx="9144" cy="29260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223759" y="525780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C0392B"/>
                </a:solidFill>
                <a:latin typeface="Calibri"/>
              </a:rPr>
              <a:t>no mitigation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77240" y="6327648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Only two systems in the comparison actively mitigate: Dale 2023 (N-best rerank) and the proposed pipeline. The pipeline achieves the larger Delta and does not require MC-dropout.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48640" y="656539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Hallucination-Mitigation  -  Thesis Pre-Defense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607040" y="656539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15 /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4B8A6"/>
                </a:solidFill>
                <a:latin typeface="Calibri"/>
              </a:rPr>
              <a:t>RESULTS (3/3)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0E2A47"/>
                </a:solidFill>
                <a:latin typeface="Calibri"/>
              </a:rPr>
              <a:t>Verification and provenance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Where the proposed approach advances beyond the state of the 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00200"/>
            <a:ext cx="457200" cy="365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920240"/>
            <a:ext cx="3657600" cy="219456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920240"/>
            <a:ext cx="36576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993392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Claim-level F1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514600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14B8A6"/>
                </a:solidFill>
                <a:latin typeface="Calibri"/>
              </a:rPr>
              <a:t>0.76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926080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TU Wien Vectara: 0.71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246120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AILS-NTUA Voting: 0.69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611880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E2A47"/>
                </a:solidFill>
                <a:latin typeface="Calibri"/>
              </a:rPr>
              <a:t>Granularity: atomic claims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43400" y="1920240"/>
            <a:ext cx="3657600" cy="219456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920240"/>
            <a:ext cx="36576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60" y="1993392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Verification Success Rate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514600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14B8A6"/>
                </a:solidFill>
                <a:latin typeface="Calibri"/>
              </a:rPr>
              <a:t>0.85+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926080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TU Wien Vectara: 0.81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3246120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Halu-NLP: 0.81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3611880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E2A47"/>
                </a:solidFill>
                <a:latin typeface="Calibri"/>
              </a:rPr>
              <a:t>Per-claim NLI catches intra-sentence contradictions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38160" y="1920240"/>
            <a:ext cx="3657600" cy="219456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38160" y="1920240"/>
            <a:ext cx="36576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75320" y="1993392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Hallucination Reduction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20" y="2514600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14B8A6"/>
                </a:solidFill>
                <a:latin typeface="Calibri"/>
              </a:rPr>
              <a:t>0.67 - 0.75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2926080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Dale rerank: ~0.55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5320" y="3246120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SHROOM family: 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20" y="3611880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E2A47"/>
                </a:solidFill>
                <a:latin typeface="Calibri"/>
              </a:rPr>
              <a:t>Combined detection + regen + gate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4297680"/>
            <a:ext cx="11064240" cy="201168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4434840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4B8A6"/>
                </a:solidFill>
                <a:latin typeface="Calibri"/>
              </a:rPr>
              <a:t>Per-claim provenance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475488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Every claim in the output is paired with the doc_id of its supporting evidence.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5074920"/>
            <a:ext cx="106070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14B8A6"/>
                </a:solidFill>
                <a:latin typeface="Consolas"/>
              </a:rPr>
              <a:t>{ "claim": "Paris is the capital of France",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5276088"/>
            <a:ext cx="106070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14B8A6"/>
                </a:solidFill>
                <a:latin typeface="Consolas"/>
              </a:rPr>
              <a:t>  "verdict": "SUPPORTED",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5477255"/>
            <a:ext cx="106070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14B8A6"/>
                </a:solidFill>
                <a:latin typeface="Consolas"/>
              </a:rPr>
              <a:t>  "doc_id": "wiki/france#3",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5678423"/>
            <a:ext cx="106070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14B8A6"/>
                </a:solidFill>
                <a:latin typeface="Consolas"/>
              </a:rPr>
              <a:t>  "score": 0.94 }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76072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None of the cited systems produce this trace; the proposed pipeline is the only one with auditable per-claim provenance.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56539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Hallucination-Mitigation  -  Thesis Pre-Defense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07040" y="656539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16 /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4B8A6"/>
                </a:solidFill>
                <a:latin typeface="Calibri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0E2A47"/>
                </a:solidFill>
                <a:latin typeface="Calibri"/>
              </a:rPr>
              <a:t>Summary of contributions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What was built, what was measured, and what was found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00200"/>
            <a:ext cx="457200" cy="365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920240"/>
            <a:ext cx="5486400" cy="420624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920240"/>
            <a:ext cx="54864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01168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Contributions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14600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4B8A6"/>
                </a:solidFill>
                <a:latin typeface="Calibri"/>
              </a:rPr>
              <a:t>-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51460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Calibri"/>
              </a:rPr>
              <a:t>An end-to-end 13-step pipeline, aligned with a single architecture diagram.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017520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4B8A6"/>
                </a:solidFill>
                <a:latin typeface="Calibri"/>
              </a:rPr>
              <a:t>-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01752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Calibri"/>
              </a:rPr>
              <a:t>Real HuggingFace models at every step of the pipeline.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520439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4B8A6"/>
                </a:solidFill>
                <a:latin typeface="Calibri"/>
              </a:rPr>
              <a:t>-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520439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Calibri"/>
              </a:rPr>
              <a:t>Claim-level NLI verification combined with a three-way decision gate.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023359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4B8A6"/>
                </a:solidFill>
                <a:latin typeface="Calibri"/>
              </a:rPr>
              <a:t>-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023359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Calibri"/>
              </a:rPr>
              <a:t>Two user-facing services (FastAPI + Flask) with live metrics.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526279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4B8A6"/>
                </a:solidFill>
                <a:latin typeface="Calibri"/>
              </a:rPr>
              <a:t>-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4526279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Calibri"/>
              </a:rPr>
              <a:t>Reproducible evaluation: 31 tests, HaluEval + TruthfulQA.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029199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4B8A6"/>
                </a:solidFill>
                <a:latin typeface="Calibri"/>
              </a:rPr>
              <a:t>-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5029199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Calibri"/>
              </a:rPr>
              <a:t>Quantitative comparison against ten cited papers.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3640" y="1920240"/>
            <a:ext cx="5349240" cy="420624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1920240"/>
            <a:ext cx="5349240" cy="45720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2011680"/>
            <a:ext cx="4983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Headline metrics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251460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Calibri"/>
              </a:rPr>
              <a:t>Mitigation Delta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251460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0E2A47"/>
                </a:solidFill>
                <a:latin typeface="Calibri"/>
              </a:rPr>
              <a:t>+0.67 to +0.75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29800" y="2514600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highest in comparison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301752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Calibri"/>
              </a:rPr>
              <a:t>Claim-level F1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3017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0E2A47"/>
                </a:solidFill>
                <a:latin typeface="Calibri"/>
              </a:rPr>
              <a:t>0.76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29800" y="3017520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beats TU Wien Vectara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3520439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Calibri"/>
              </a:rPr>
              <a:t>Verification Success Rate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3520439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0E2A47"/>
                </a:solidFill>
                <a:latin typeface="Calibri"/>
              </a:rPr>
              <a:t>0.85+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29800" y="3520439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per-claim NLI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4023359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Calibri"/>
              </a:rPr>
              <a:t>Hallucination Reduction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0" y="4023359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0E2A47"/>
                </a:solidFill>
                <a:latin typeface="Calibri"/>
              </a:rPr>
              <a:t>0.67 - 0.75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29800" y="4023359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combined detection + regen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4526279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Calibri"/>
              </a:rPr>
              <a:t>Per-claim provenance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1040" y="4526279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0E2A47"/>
                </a:solidFill>
                <a:latin typeface="Calibri"/>
              </a:rPr>
              <a:t>doc_id per claim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29800" y="4526279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unique to this work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92240" y="5029199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Calibri"/>
              </a:rPr>
              <a:t>Pipeline coverage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21040" y="5029199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0E2A47"/>
                </a:solidFill>
                <a:latin typeface="Calibri"/>
              </a:rPr>
              <a:t>13 steps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829800" y="5029199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modular, pluggable backend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77240" y="6391656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All artifacts available at: github.com/ShihabHassanNaim/Hallucination-Mitigation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656539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Hallucination-Mitigation  -  Thesis Pre-Defense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607040" y="656539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17 /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37160" cy="9144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Questions and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14B8A6"/>
                </a:solidFill>
                <a:latin typeface="Calibri"/>
              </a:rPr>
              <a:t>Thank you for your attention.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114800"/>
            <a:ext cx="3200400" cy="27432"/>
          </a:xfrm>
          <a:prstGeom prst="rect">
            <a:avLst/>
          </a:prstGeom>
          <a:solidFill>
            <a:srgbClr val="B7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2519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B7860B"/>
                </a:solidFill>
                <a:latin typeface="Calibri"/>
              </a:rPr>
              <a:t>Author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5720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Shihab Hassan Naim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0292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4B8A6"/>
                </a:solidFill>
                <a:latin typeface="Calibri"/>
              </a:rPr>
              <a:t>github.com/ShihabHassanNaim/Hallucination-Mitigation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